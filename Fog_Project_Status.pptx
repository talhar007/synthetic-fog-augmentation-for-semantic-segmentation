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STATUS  ·  GROUP STUDIES  ·  TU ILMENAU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Fog Augmentation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Semantic Segmentation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synthetic-fog training schemes make a segmentation model more robust to real fog — and which fog-generation technique wins?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2542032" cy="1143000"/>
          </a:xfrm>
          <a:prstGeom prst="roundRect">
            <a:avLst>
              <a:gd name="adj" fmla="val 64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/ 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10235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trained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9584" y="4434840"/>
            <a:ext cx="2542032" cy="1143000"/>
          </a:xfrm>
          <a:prstGeom prst="roundRect">
            <a:avLst>
              <a:gd name="adj" fmla="val 64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457200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510235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ACDC-fog val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4434840"/>
            <a:ext cx="2542032" cy="1143000"/>
          </a:xfrm>
          <a:prstGeom prst="roundRect">
            <a:avLst>
              <a:gd name="adj" fmla="val 64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457200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+ 2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27648" y="510235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techniques + references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42832" y="4434840"/>
            <a:ext cx="2542032" cy="1143000"/>
          </a:xfrm>
          <a:prstGeom prst="roundRect">
            <a:avLst>
              <a:gd name="adj" fmla="val 64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4272" y="457200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DeepLabV3+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34272" y="510235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ResNet-101 · 19 classes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experiments complete — trained, evaluated, and visualized.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ACHIEVED  ·  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 and Ran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53212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CONTROLLED 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Cityscapes — clear, fine-annotated (2975 train / 500 val)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3522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293522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ACDC fog val — 100 real foggy images, never trained 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38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35387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DeepLabV3+ · ResNet-101 · 19 classes · ignore 255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42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Held constant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41422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 · AdamW · lr 6e-5 · poly decay · batch 4 · crop 1024x512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7457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variable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31720" y="474573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fog augmentation applied to training images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never altered by augmentation — so any score difference is attributable purely to the fog method.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76672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91640"/>
            <a:ext cx="537667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FOG TECHNIQUES COMPARED  (11 RUNS)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2377440"/>
            <a:ext cx="7315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601968" y="2359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Photometric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01968" y="2596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Albumentations RandomFog — flat, depth-agnostic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0469880" y="2377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/ med / high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46520" y="2944368"/>
            <a:ext cx="73152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Depth-aware (stereo)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01968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Koschmieder physics · Cityscapes stereo depth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10469880" y="29443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.005/.01/.02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46520" y="3511296"/>
            <a:ext cx="73152" cy="45720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0" name="Text 28"/>
          <p:cNvSpPr/>
          <p:nvPr/>
        </p:nvSpPr>
        <p:spPr>
          <a:xfrm>
            <a:off x="6601968" y="3493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NN-depth (monocular)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01968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 · DepthAnythingV2 · no stereo rig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0469880" y="35112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.005/.01/.02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4078224"/>
            <a:ext cx="73152" cy="4572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68" y="4059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baseline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01968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fog augmentation (reference)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10469880" y="40782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6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46520" y="4645152"/>
            <a:ext cx="73152" cy="4572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38" name="Text 36"/>
          <p:cNvSpPr/>
          <p:nvPr/>
        </p:nvSpPr>
        <p:spPr>
          <a:xfrm>
            <a:off x="6601968" y="4626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combined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601968" y="4864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depth-aware (B=.01) + photometric (med)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10469880" y="46451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6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520" y="5230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technique (monocular NN-depth) added per professor's request.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11 Runs — and What Feeds Each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02920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EXPERIMENT, 11 CONDITIONS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techniques  ×  3 intensities  =  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6400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724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Photometric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med · high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182112"/>
            <a:ext cx="6400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1821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Depth-aware (stereo)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.005 · .01 · .02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639312"/>
            <a:ext cx="6400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36393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NN-depth (monocular)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3639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.005 · .01 · .02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224528"/>
            <a:ext cx="4572000" cy="0"/>
          </a:xfrm>
          <a:prstGeom prst="line">
            <a:avLst/>
          </a:prstGeom>
          <a:noFill/>
          <a:ln w="12700">
            <a:solidFill>
              <a:srgbClr val="D6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159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 2 references  =  11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4681728"/>
            <a:ext cx="64008" cy="512064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4681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24128" y="4910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fog — the zero point; without it we can't say fog helped or hurt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68680" y="5266944"/>
            <a:ext cx="64008" cy="512064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5266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24128" y="54955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depth-aware + photometric stacked — tests whether mixing helps (RQ3)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777240" y="5907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isn't a target — it's what the design produces.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645920"/>
            <a:ext cx="587959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1645920"/>
            <a:ext cx="587959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1645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DATA FEEDS WHICH RUN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89320" y="228600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AF5F4"/>
          </a:solidFill>
          <a:ln w="12700">
            <a:solidFill>
              <a:srgbClr val="5BC0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2359152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ALL 11 runs:  </a:t>
            </a:r>
            <a:pPr indent="0" marL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</a:t>
            </a:r>
            <a:pPr indent="0" marL="0">
              <a:buNone/>
            </a:pPr>
            <a:r>
              <a:rPr lang="en-US" sz="10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Cityscapes</a:t>
            </a:r>
            <a:pPr indent="0" marL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(clear images + labels)  →  evaluate on </a:t>
            </a:r>
            <a:pPr indent="0" marL="0">
              <a:buNone/>
            </a:pPr>
            <a:r>
              <a:rPr lang="en-US" sz="10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ACDC fog val</a:t>
            </a:r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(real fog, never trained on). The datasets never change — only the fog recipe on the Cityscapes images does.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 inputs, only where the technique needs them: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3657600"/>
            <a:ext cx="73152" cy="6583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657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Cityscapes stereo disparity + calibration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9136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5–7 (depth-aware) &amp; 11 (combined) — real geometric depth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989320" y="4425696"/>
            <a:ext cx="73152" cy="658368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44256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DepthAnythingV2 (monocular depth model)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468172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8–10 (NN-depth) — generates depth from one image, not a dataset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989320" y="5193792"/>
            <a:ext cx="73152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51937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depth needed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544982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1–4 (baseline + photometric) — flat haze, geometry-agnostic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989320" y="5961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96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NN-depth matched stereo, so the rig-free method loses nothing.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 ·  MIOU ON REAL ACDC FOG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Techniques Performed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03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mIoU on ACDC fog (higher = better)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697480" y="2194560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2194560"/>
            <a:ext cx="4125102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6877446" y="2176272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0.414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31520" y="2505456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nn_depth_b0005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697480" y="2523744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2523744"/>
            <a:ext cx="3895100" cy="25146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444" y="2505456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0.391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depthaware_b0005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697480" y="2852928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2852928"/>
            <a:ext cx="3790554" cy="2514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542898" y="28346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0.381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31520" y="3163824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depthaware_b001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697480" y="3182112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182112"/>
            <a:ext cx="2722189" cy="2514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5474533" y="3163824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0.273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nn_depth_b002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697480" y="3511296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24" name="Shape 22"/>
          <p:cNvSpPr/>
          <p:nvPr/>
        </p:nvSpPr>
        <p:spPr>
          <a:xfrm>
            <a:off x="2697480" y="3511296"/>
            <a:ext cx="2720198" cy="25146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5" name="Text 23"/>
          <p:cNvSpPr/>
          <p:nvPr/>
        </p:nvSpPr>
        <p:spPr>
          <a:xfrm>
            <a:off x="5472542" y="3493008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0.273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31520" y="3822192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nn_depth_b001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697480" y="3840480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28" name="Shape 26"/>
          <p:cNvSpPr/>
          <p:nvPr/>
        </p:nvSpPr>
        <p:spPr>
          <a:xfrm>
            <a:off x="2697480" y="3840480"/>
            <a:ext cx="2655479" cy="25146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9" name="Text 27"/>
          <p:cNvSpPr/>
          <p:nvPr/>
        </p:nvSpPr>
        <p:spPr>
          <a:xfrm>
            <a:off x="5407823" y="3822192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0.267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31520" y="4151376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photometric_low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697480" y="4169664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32" name="Shape 30"/>
          <p:cNvSpPr/>
          <p:nvPr/>
        </p:nvSpPr>
        <p:spPr>
          <a:xfrm>
            <a:off x="2697480" y="4169664"/>
            <a:ext cx="2307986" cy="2514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060330" y="4151376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0.232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731520" y="4480560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depthaware_b002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2697480" y="4498848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36" name="Shape 34"/>
          <p:cNvSpPr/>
          <p:nvPr/>
        </p:nvSpPr>
        <p:spPr>
          <a:xfrm>
            <a:off x="2697480" y="4498848"/>
            <a:ext cx="2265172" cy="2514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7" name="Text 35"/>
          <p:cNvSpPr/>
          <p:nvPr/>
        </p:nvSpPr>
        <p:spPr>
          <a:xfrm>
            <a:off x="5017516" y="448056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0.228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731520" y="4809744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photometric_med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2697480" y="4828032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40" name="Shape 38"/>
          <p:cNvSpPr/>
          <p:nvPr/>
        </p:nvSpPr>
        <p:spPr>
          <a:xfrm>
            <a:off x="2697480" y="4828032"/>
            <a:ext cx="849315" cy="2514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3601659" y="4809744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0.085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731520" y="5138928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photometric_high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2697480" y="5157216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44" name="Shape 42"/>
          <p:cNvSpPr/>
          <p:nvPr/>
        </p:nvSpPr>
        <p:spPr>
          <a:xfrm>
            <a:off x="2697480" y="5157216"/>
            <a:ext cx="382341" cy="2514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3134685" y="5138928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0.038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731520" y="5468112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2697480" y="5486400"/>
            <a:ext cx="4480560" cy="25146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48" name="Shape 46"/>
          <p:cNvSpPr/>
          <p:nvPr/>
        </p:nvSpPr>
        <p:spPr>
          <a:xfrm>
            <a:off x="2697480" y="5486400"/>
            <a:ext cx="344505" cy="251460"/>
          </a:xfrm>
          <a:prstGeom prst="rect">
            <a:avLst/>
          </a:prstGeom>
          <a:solidFill>
            <a:srgbClr val="B6465F"/>
          </a:solidFill>
          <a:ln/>
        </p:spPr>
      </p:sp>
      <p:sp>
        <p:nvSpPr>
          <p:cNvPr id="49" name="Text 47"/>
          <p:cNvSpPr/>
          <p:nvPr/>
        </p:nvSpPr>
        <p:spPr>
          <a:xfrm>
            <a:off x="3096849" y="5468112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B646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0.035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6822582" y="2148840"/>
            <a:ext cx="0" cy="3634740"/>
          </a:xfrm>
          <a:prstGeom prst="line">
            <a:avLst/>
          </a:prstGeom>
          <a:noFill/>
          <a:ln w="15875">
            <a:solidFill>
              <a:srgbClr val="C77D2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777240" y="5943600"/>
            <a:ext cx="146304" cy="14630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2" name="Text 50"/>
          <p:cNvSpPr/>
          <p:nvPr/>
        </p:nvSpPr>
        <p:spPr>
          <a:xfrm>
            <a:off x="960120" y="5897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103120" y="5943600"/>
            <a:ext cx="146304" cy="146304"/>
          </a:xfrm>
          <a:prstGeom prst="ellipse">
            <a:avLst/>
          </a:prstGeom>
          <a:solidFill>
            <a:srgbClr val="5BC0BE"/>
          </a:solidFill>
          <a:ln/>
        </p:spPr>
      </p:sp>
      <p:sp>
        <p:nvSpPr>
          <p:cNvPr id="54" name="Text 52"/>
          <p:cNvSpPr/>
          <p:nvPr/>
        </p:nvSpPr>
        <p:spPr>
          <a:xfrm>
            <a:off x="2286000" y="5897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NN-depth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29000" y="594360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6" name="Text 54"/>
          <p:cNvSpPr/>
          <p:nvPr/>
        </p:nvSpPr>
        <p:spPr>
          <a:xfrm>
            <a:off x="3611880" y="5897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Depth-aware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59436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8" name="Text 56"/>
          <p:cNvSpPr/>
          <p:nvPr/>
        </p:nvSpPr>
        <p:spPr>
          <a:xfrm>
            <a:off x="4937760" y="5897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Photometric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80760" y="5943600"/>
            <a:ext cx="146304" cy="146304"/>
          </a:xfrm>
          <a:prstGeom prst="ellipse">
            <a:avLst/>
          </a:prstGeom>
          <a:solidFill>
            <a:srgbClr val="B6465F"/>
          </a:solidFill>
          <a:ln/>
        </p:spPr>
      </p:sp>
      <p:sp>
        <p:nvSpPr>
          <p:cNvPr id="60" name="Text 58"/>
          <p:cNvSpPr/>
          <p:nvPr/>
        </p:nvSpPr>
        <p:spPr>
          <a:xfrm>
            <a:off x="6263640" y="5897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1801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77D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- baseline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635240" y="1645920"/>
            <a:ext cx="4005072" cy="452628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635240" y="1645920"/>
            <a:ext cx="4005072" cy="4572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64" name="Text 62"/>
          <p:cNvSpPr/>
          <p:nvPr/>
        </p:nvSpPr>
        <p:spPr>
          <a:xfrm>
            <a:off x="781812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818120" y="228600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6" name="Text 64"/>
          <p:cNvSpPr/>
          <p:nvPr/>
        </p:nvSpPr>
        <p:spPr>
          <a:xfrm>
            <a:off x="781812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22960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augmented run beat the baseline.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229600" y="2542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central, counter-intuitive result.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818120" y="320040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0" name="Text 68"/>
          <p:cNvSpPr/>
          <p:nvPr/>
        </p:nvSpPr>
        <p:spPr>
          <a:xfrm>
            <a:off x="781812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22960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dose-response.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8229600" y="3456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fog → better every time (low&gt;med&gt;high; B .005&gt;.01&gt;.02).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818120" y="411480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4" name="Text 72"/>
          <p:cNvSpPr/>
          <p:nvPr/>
        </p:nvSpPr>
        <p:spPr>
          <a:xfrm>
            <a:off x="781812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229600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Depth-based beat photometric.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229600" y="43708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comparable intensity — and came closest to baseline.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818120" y="502920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8" name="Text 76"/>
          <p:cNvSpPr/>
          <p:nvPr/>
        </p:nvSpPr>
        <p:spPr>
          <a:xfrm>
            <a:off x="781812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229600" y="5010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Monocular = stereo.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8229600" y="5285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NN-depth matched stereo — the cheaper, rig-free method loses nothing.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C0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  · 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Failed — and Where We Go Next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298448"/>
          </a:xfrm>
          <a:prstGeom prst="roundRect">
            <a:avLst>
              <a:gd name="adj" fmla="val 5634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09728" cy="1298448"/>
          </a:xfrm>
          <a:prstGeom prst="rect">
            <a:avLst/>
          </a:prstGeom>
          <a:solidFill>
            <a:srgbClr val="C77D2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 = underfitting, not a generalization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failed runs (combined, photometric_high) never learned the task even on their OWN Cityscapes-val set — e.g. photometric_high peaked at 0.29 Cityscapes-val mIoU vs. baseline's 0.77. Heavy/stacked fog overwhelmed learning inside the fixed 50-epoch budget. This is a training-budget / fog-intensity issue — not proof that fog augmentation is fundamentally unhelpful.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 / longer budget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461772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fog intensity over training or extend epochs to test whether depth-aware fog can actually beat baseline, not just approach it.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374136" y="32004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2736" y="34290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3602736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5304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seeds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75304" y="461772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results are single-seed per condition — add seeds for statistical significance.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199632" y="32004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34290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ACDC test submission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61772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 used so far; submit best models to the held-out ACDC test server.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025128" y="32004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53728" y="34290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9253728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26296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Cityscapes-pretrained backbone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26296" y="461772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blocked on HPC (mmcv build needed python3-devel, no root). ImageNet-pretrained used for all 11 — fair, but a CS-pretrained encoder would likely lift all scores.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ctr" indent="0" marL="0">
              <a:buNone/>
            </a:pPr>
            <a:r>
              <a:rPr lang="en-US" sz="11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works end-to-end and the comparison is clean; the open work is about pushing the light-fog depth-aware setting to beat baseline, plus robustness (seeds) and a stronger backbone.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Fog Augmentation — Project Status</dc:title>
  <dc:subject>PptxGenJS Presentation</dc:subject>
  <dc:creator>Talha Ahmed</dc:creator>
  <cp:lastModifiedBy>Talha Ahmed</cp:lastModifiedBy>
  <cp:revision>1</cp:revision>
  <dcterms:created xsi:type="dcterms:W3CDTF">2026-06-24T11:48:38Z</dcterms:created>
  <dcterms:modified xsi:type="dcterms:W3CDTF">2026-06-24T11:48:38Z</dcterms:modified>
</cp:coreProperties>
</file>