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FB8E8"/>
                </a:solidFill>
                <a:latin typeface="Calibri"/>
              </a:rPr>
              <a:t>PROJECT STATUS · AUGUST 2026 · GROUP STUDIES · TU ILMENAU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Synthetic Fog Augmentation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for Semantic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Both backbone sweeps are complete.  </a:t>
            </a:r>
            <a:r>
              <a:rPr sz="1600" b="0">
                <a:solidFill>
                  <a:srgbClr val="C3C2B7"/>
                </a:solidFill>
                <a:latin typeface="Calibri"/>
              </a:rPr>
              <a:t>MiT-B2 with NN-depth fog augmentation reaches 0.603 mIoU on real ACDC fog — up from a 0.414 no-fog baseline, and ahead of every “no real ACDC labels” method benchmarked in the ACDC paper.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94760"/>
            <a:ext cx="2615184" cy="1417320"/>
          </a:xfrm>
          <a:prstGeom prst="roundRect">
            <a:avLst/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003928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B8E8"/>
                </a:solidFill>
                <a:latin typeface="Calibri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589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3C2B7"/>
                </a:solidFill>
                <a:latin typeface="Calibri"/>
              </a:rPr>
              <a:t>experiments total (34 ResNet-101 + 24 MiT-B2)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794760"/>
            <a:ext cx="2615184" cy="1417320"/>
          </a:xfrm>
          <a:prstGeom prst="roundRect">
            <a:avLst/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4003928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B8E8"/>
                </a:solidFill>
                <a:latin typeface="Calibri"/>
              </a:rPr>
              <a:t>0.603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589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3C2B7"/>
                </a:solidFill>
                <a:latin typeface="Calibri"/>
              </a:rPr>
              <a:t>best mIoU — MiT-B2 + NN-depth (baseline 0.414)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2615184" cy="1417320"/>
          </a:xfrm>
          <a:prstGeom prst="roundRect">
            <a:avLst/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003928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B8E8"/>
                </a:solidFill>
                <a:latin typeface="Calibri"/>
              </a:rPr>
              <a:t>+0.125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589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3C2B7"/>
                </a:solidFill>
                <a:latin typeface="Calibri"/>
              </a:rPr>
              <a:t>gained from the backbone swap alone, same fog config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794760"/>
            <a:ext cx="2615184" cy="1417320"/>
          </a:xfrm>
          <a:prstGeom prst="roundRect">
            <a:avLst/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4003928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8FB8E8"/>
                </a:solidFill>
                <a:latin typeface="Calibri"/>
              </a:rPr>
              <a:t>24 /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4589120"/>
            <a:ext cx="22128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C3C2B7"/>
                </a:solidFill>
                <a:latin typeface="Calibri"/>
              </a:rPr>
              <a:t>MiT-B2 sweep complete — every config beat its ResNet pair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669280"/>
            <a:ext cx="10817352" cy="658368"/>
          </a:xfrm>
          <a:prstGeom prst="roundRect">
            <a:avLst/>
          </a:prstGeom>
          <a:solidFill>
            <a:srgbClr val="1B2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69280"/>
            <a:ext cx="1026871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6FC86F"/>
                </a:solidFill>
                <a:latin typeface="Calibri"/>
              </a:rPr>
              <a:t>COMPLETE  </a:t>
            </a:r>
            <a:r>
              <a:rPr sz="1300" b="0">
                <a:solidFill>
                  <a:srgbClr val="C3C2B7"/>
                </a:solidFill>
                <a:latin typeface="Calibri"/>
              </a:rPr>
              <a:t>Both sweeps finished; results, figures, and reproducibility tooling regenerated end to 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METHODOLOGY FIX · WHY AUGMENTATION WAS HURTING, NOT HELPING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Fog Probability — Stop Fogging Every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2700000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Calibri"/>
              </a:rPr>
              <a:t>THEN — ORIGINAL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21408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Fog on 100% of training images.  </a:t>
            </a:r>
            <a:r>
              <a:rPr sz="1250" b="0">
                <a:solidFill>
                  <a:srgbClr val="52514E"/>
                </a:solidFill>
                <a:latin typeface="Calibri"/>
              </a:rPr>
              <a:t>Every batch was foggy — the model never saw a clear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78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51408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One fixed intensity per run.  </a:t>
            </a:r>
            <a:r>
              <a:rPr sz="1250" b="0">
                <a:solidFill>
                  <a:srgbClr val="52514E"/>
                </a:solidFill>
                <a:latin typeface="Calibri"/>
              </a:rPr>
              <a:t>No diversity in fog strength within a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08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81408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Result: all 10 augmented runs lost to baseline (0.414).  </a:t>
            </a:r>
            <a:r>
              <a:rPr sz="1250" b="0">
                <a:solidFill>
                  <a:srgbClr val="52514E"/>
                </a:solidFill>
                <a:latin typeface="Calibri"/>
              </a:rPr>
              <a:t>Root cause: underfitting under heavy, relentless fog.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5440680" cy="2700000"/>
          </a:xfrm>
          <a:prstGeom prst="roundRect">
            <a:avLst/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8300"/>
                </a:solidFill>
                <a:latin typeface="Calibri"/>
              </a:rPr>
              <a:t>NOW — PROBABILISTIC FOG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93976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fog_prob p ∈ {0.1, 0.3, 0.5, 0.7}.  </a:t>
            </a:r>
            <a:r>
              <a:rPr sz="1250" b="0">
                <a:solidFill>
                  <a:srgbClr val="52514E"/>
                </a:solidFill>
                <a:latin typeface="Calibri"/>
              </a:rPr>
              <a:t>Each image is fogged with probability p — a genuine mix of clear + foggy training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9214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93976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Mixed-intensity variant.  </a:t>
            </a:r>
            <a:r>
              <a:rPr sz="1250" b="0">
                <a:solidFill>
                  <a:srgbClr val="52514E"/>
                </a:solidFill>
                <a:latin typeface="Calibri"/>
              </a:rPr>
              <a:t>Random β per image instead of one fixed strength.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4214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93976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23 new ResNet-101 runs, then repeated on MiT-B2.  </a:t>
            </a:r>
            <a:r>
              <a:rPr sz="1250" b="0">
                <a:solidFill>
                  <a:srgbClr val="52514E"/>
                </a:solidFill>
                <a:latin typeface="Calibri"/>
              </a:rPr>
              <a:t>Same protocol throughout — only the augmentation recipe (and later, backbone) changed.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64792"/>
            <a:ext cx="11091672" cy="457200"/>
          </a:xfrm>
          <a:prstGeom prst="round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64792"/>
            <a:ext cx="10543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6FC86F"/>
                </a:solidFill>
                <a:latin typeface="Calibri"/>
              </a:rPr>
              <a:t>Outcome:  </a:t>
            </a:r>
            <a:r>
              <a:rPr sz="1300" b="0">
                <a:solidFill>
                  <a:srgbClr val="FFFFFF"/>
                </a:solidFill>
                <a:latin typeface="Calibri"/>
              </a:rPr>
              <a:t>with p &lt; 1, every technique family beats the no-fog baseline on real ACDC fog — on both backbones.</a:t>
            </a:r>
          </a:p>
        </p:txBody>
      </p:sp>
      <p:pic>
        <p:nvPicPr>
          <p:cNvPr id="23" name="Picture 22" descr="fog_technique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168" y="5043384"/>
            <a:ext cx="6634615" cy="150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5800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Same source image under each technique (label = current best sweep config, MiT-B2/FPN, and its ACDC mIoU).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RESNET-101 SWEEP ·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Fog Augmentation Beats Baseline (ResNet-101)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572768"/>
            <a:ext cx="9692639" cy="3801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86400"/>
            <a:ext cx="2697480" cy="1078992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614416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52514E"/>
                </a:solidFill>
                <a:latin typeface="Calibri"/>
              </a:rPr>
              <a:t>13 runs above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16168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Baseline (0.414) drops from rank 1 of 11 to mid-table once p &lt;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512" y="5486400"/>
            <a:ext cx="2697480" cy="1078992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104" y="5614416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08300"/>
                </a:solidFill>
                <a:latin typeface="Calibri"/>
              </a:rPr>
              <a:t>Best: NN-depth, +6.4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104" y="5916168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β=0.005, p=0.3 → 0.478 — monocular depth wins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384" y="5486400"/>
            <a:ext cx="2697480" cy="1078992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8976" y="5614416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78D6"/>
                </a:solidFill>
                <a:latin typeface="Calibri"/>
              </a:rPr>
              <a:t>Sweet spot: p = 0.1–0.3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8976" y="5916168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Light-to-moderate fog exposure helps; p=0.7 drifts back 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256" y="5486400"/>
            <a:ext cx="2697480" cy="1078992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6848" y="5614416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4A3AA7"/>
                </a:solidFill>
                <a:latin typeface="Calibri"/>
              </a:rPr>
              <a:t>“Combined” rescued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6848" y="5916168"/>
            <a:ext cx="236829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0.035 → 0.462 — stacking techniques works once fog is occasional.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BACKBONE UPGRADE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ResNet-101 / DeepLabV3+  →  MiT-B2 / FPN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2971800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Calibri"/>
              </a:rPr>
              <a:t>RESNET-101 / DEEPLABV3+  ·  CONVOLUTIONAL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21408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Local receptive fields.  </a:t>
            </a:r>
            <a:r>
              <a:rPr sz="1250" b="0">
                <a:solidFill>
                  <a:srgbClr val="52514E"/>
                </a:solidFill>
                <a:latin typeface="Calibri"/>
              </a:rPr>
              <a:t>Each layer sees a small neighborhood; global context only emerges after stacking 101 layers.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1667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89240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Decoder: ASPP.  </a:t>
            </a:r>
            <a:r>
              <a:rPr sz="1250" b="0">
                <a:solidFill>
                  <a:srgbClr val="52514E"/>
                </a:solidFill>
                <a:latin typeface="Calibri"/>
              </a:rPr>
              <a:t>Atrous (dilated) convolutions at several rates + global pooling — needs a dilation-capable encoder.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8450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657072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~44.5M backbone params.  </a:t>
            </a:r>
            <a:r>
              <a:rPr sz="1250" b="0">
                <a:solidFill>
                  <a:srgbClr val="52514E"/>
                </a:solidFill>
                <a:latin typeface="Calibri"/>
              </a:rPr>
              <a:t>Larger, and the bottleneck this upgrade replaces.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5440680" cy="297180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MIT-B2 / FPN  ·  TRANSFORMER (SEGFORMER)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93976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Self-attention encoder.  </a:t>
            </a:r>
            <a:r>
              <a:rPr sz="1250" b="0">
                <a:solidFill>
                  <a:srgbClr val="52514E"/>
                </a:solidFill>
                <a:latin typeface="Calibri"/>
              </a:rPr>
              <a:t>Every patch attends to every other patch within one layer — global context from the start.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8892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61808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Decoder: FPN.  </a:t>
            </a:r>
            <a:r>
              <a:rPr sz="1250" b="0">
                <a:solidFill>
                  <a:srgbClr val="52514E"/>
                </a:solidFill>
                <a:latin typeface="Calibri"/>
              </a:rPr>
              <a:t>Top-down pyramid fusion, no dilation needed — why it pairs with a transformer where DeepLabV3+ can't.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65707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29640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~25M backbone params.  </a:t>
            </a:r>
            <a:r>
              <a:rPr sz="1250" b="0">
                <a:solidFill>
                  <a:srgbClr val="52514E"/>
                </a:solidFill>
                <a:latin typeface="Calibri"/>
              </a:rPr>
              <a:t>Smaller than ResNet-101, yet wins on every matched config.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36592"/>
            <a:ext cx="11091672" cy="822960"/>
          </a:xfrm>
          <a:prstGeom prst="round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36592"/>
            <a:ext cx="1054303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8FB8E8"/>
                </a:solidFill>
                <a:latin typeface="Calibri"/>
              </a:rPr>
              <a:t>Evidence:  </a:t>
            </a:r>
            <a:r>
              <a:rPr sz="1300" b="0">
                <a:solidFill>
                  <a:srgbClr val="FFFFFF"/>
                </a:solidFill>
                <a:latin typeface="Calibri"/>
              </a:rPr>
              <a:t>SegFormer paper (Xie et al., NeurIPS 2021), Cityscapes-C fog corruption benchmark — MiT-B5/SegFormer 78.5 mIoU vs. DeepLabV3+ (Xception-71) 64.1 mIoU. Same architectural family; our own 10-epoch POC (matched, both backbones, with/without fog) confirmed the effect for MiT-B2 before committing to the full 24-config resweep.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978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Why they can't just be swapped: DeepLabV3+ requires a dilation-capable encoder for its ASPP head — attempting mit_b2 raised “ValueError: MixVisionTransformer encoder does not support dilated mode.” FPN has no such requirement, so it's the decoder used with mit_b2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MIT-B2 SWEEP · FINAL — ALL 24 RUNS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New Best: 0.603 mIoU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tb2_sweep_final_ran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042" y="1600200"/>
            <a:ext cx="6779558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14232" y="17830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0B0B"/>
                </a:solidFill>
                <a:latin typeface="Calibri"/>
              </a:rPr>
              <a:t>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755648"/>
            <a:ext cx="2359152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0B0B"/>
                </a:solidFill>
                <a:latin typeface="Calibri"/>
              </a:rPr>
              <a:t>New best: 0.603  </a:t>
            </a:r>
          </a:p>
          <a:p>
            <a:pPr algn="l"/>
            <a:r>
              <a:rPr sz="1150" b="0">
                <a:solidFill>
                  <a:srgbClr val="52514E"/>
                </a:solidFill>
                <a:latin typeface="Calibri"/>
              </a:rPr>
              <a:t>NN-depth β=0.01, p=0.3 — +9.7 pts over the MiT-B2 baseline (0.507).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290779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880360"/>
            <a:ext cx="2359152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0B0B"/>
                </a:solidFill>
                <a:latin typeface="Calibri"/>
              </a:rPr>
              <a:t>Every config improved.  </a:t>
            </a:r>
          </a:p>
          <a:p>
            <a:pPr algn="l"/>
            <a:r>
              <a:rPr sz="1150" b="0">
                <a:solidFill>
                  <a:srgbClr val="52514E"/>
                </a:solidFill>
                <a:latin typeface="Calibri"/>
              </a:rPr>
              <a:t>All 24 ResNet↔MiT-B2 pairs — mean Δ = +0.117, range +0.038 to +0.254.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403250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005072"/>
            <a:ext cx="2359152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0B0B"/>
                </a:solidFill>
                <a:latin typeface="Calibri"/>
              </a:rPr>
              <a:t>18 of 23 fog configs beat baseline.  </a:t>
            </a:r>
          </a:p>
          <a:p>
            <a:pPr algn="l"/>
            <a:r>
              <a:rPr sz="1150" b="0">
                <a:solidFill>
                  <a:srgbClr val="52514E"/>
                </a:solidFill>
                <a:latin typeface="Calibri"/>
              </a:rPr>
              <a:t>All 6 NN-depth and both combined configs are above the no-fog baseline.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51572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4A3AA7"/>
                </a:solidFill>
                <a:latin typeface="Calibr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5129784"/>
            <a:ext cx="2359152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0B0B"/>
                </a:solidFill>
                <a:latin typeface="Calibri"/>
              </a:rPr>
              <a:t>Depth-aware (stereo) lags.  </a:t>
            </a:r>
          </a:p>
          <a:p>
            <a:pPr algn="l"/>
            <a:r>
              <a:rPr sz="1150" b="0">
                <a:solidFill>
                  <a:srgbClr val="52514E"/>
                </a:solidFill>
                <a:latin typeface="Calibri"/>
              </a:rPr>
              <a:t>Weakest family on MiT-B2 — monocular NN-depth is the clear winner on both backbones.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EXTERNAL CONTEXT ·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Where We Stand vs. Published ACDC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dc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51" y="1645920"/>
            <a:ext cx="7174991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7830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9368" y="1755648"/>
            <a:ext cx="2999232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We beat the paper's own source model.  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Our best ResNet run (47.8) tops the ACDC paper's un-adapted DeepLabV3+ (45.7); our MiT-B2 baseline alone (50.7) already exceeds it with no fog augmentation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9352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368" y="2907792"/>
            <a:ext cx="2999232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We clear the “no real ACDC labels” tier.  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Our MiT-B2 best (60.3) beats DMAda (50.7), CMAda (51.2), and GCMA (52.4) — all of which use real foggy imagery and/or domain adaptation; we use only synthetic fog on Cityscapes.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0873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4059936"/>
            <a:ext cx="2999232" cy="1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Oracle remains ahead, as expected.  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Calibri"/>
              </a:rPr>
              <a:t>Full supervision on real ACDC fog labels (68.7–69.1) still leads — that's the ceiling with labels we deliberately never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5120640"/>
            <a:ext cx="3291840" cy="1325880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5257800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0B0B"/>
                </a:solidFill>
                <a:latin typeface="Calibri"/>
              </a:rPr>
              <a:t>Caveat: </a:t>
            </a:r>
            <a:r>
              <a:rPr sz="1100" b="0">
                <a:solidFill>
                  <a:srgbClr val="52514E"/>
                </a:solidFill>
                <a:latin typeface="Calibri"/>
              </a:rPr>
              <a:t>ours is ACDC fog val (100 imgs, SMP backend, 50 epochs); paper numbers are the held-out test set (500 imgs, official eval server, up to 2048×1024). Directionally meaningful, not decimal-precision comparable.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METHODOLOGICAL RIGOR · ADDRESSING THE OBVIOUS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No Leakage, No Overfitting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2971800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2514E"/>
                </a:solidFill>
                <a:latin typeface="Calibri"/>
              </a:rPr>
              <a:t>TRAIN / EVAL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21408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Training only ever touches Cityscapes.  </a:t>
            </a:r>
            <a:r>
              <a:rPr sz="1250" b="0">
                <a:solidFill>
                  <a:srgbClr val="52514E"/>
                </a:solidFill>
                <a:latin typeface="Calibri"/>
              </a:rPr>
              <a:t>Both the train and in-training-val loaders come from CityscapesDataset — ACDC is never referenced.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1667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89240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ACDC is evaluation-only, by construction.  </a:t>
            </a:r>
            <a:r>
              <a:rPr sz="1250" b="0">
                <a:solidFill>
                  <a:srgbClr val="52514E"/>
                </a:solidFill>
                <a:latin typeface="Calibri"/>
              </a:rPr>
              <a:t>Its own docstring: “evaluation only — never train on this.” Only evaluate.py instantiates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8450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657072"/>
            <a:ext cx="43982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  <a:latin typeface="Calibri"/>
              </a:rPr>
              <a:t>Checkpoint selection never sees ACDC either.  </a:t>
            </a:r>
            <a:r>
              <a:rPr sz="1250" b="0">
                <a:solidFill>
                  <a:srgbClr val="52514E"/>
                </a:solidFill>
                <a:latin typeface="Calibri"/>
              </a:rPr>
              <a:t>best.pth is picked purely by Cityscapes-val mIoU during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5440680" cy="2971800"/>
          </a:xfrm>
          <a:prstGeom prst="roundRect">
            <a:avLst/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8300"/>
                </a:solidFill>
                <a:latin typeface="Calibri"/>
              </a:rPr>
              <a:t>CONVERGENCE, NOT MEMORIZATION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46908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B0B0B"/>
                </a:solidFill>
                <a:latin typeface="Calibri"/>
              </a:rPr>
              <a:t>Winning run (nndepth_base_b001_p03_mitb2):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514600"/>
            <a:ext cx="105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52514E"/>
                </a:solidFill>
                <a:latin typeface="Calibri"/>
              </a:rPr>
              <a:t>epoch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2512" y="2514600"/>
            <a:ext cx="16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52514E"/>
                </a:solidFill>
                <a:latin typeface="Calibri"/>
              </a:rPr>
              <a:t>train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2512" y="2514600"/>
            <a:ext cx="2040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52514E"/>
                </a:solidFill>
                <a:latin typeface="Calibri"/>
              </a:rPr>
              <a:t>Cityscapes val mIoU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88920"/>
            <a:ext cx="105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2512" y="2788920"/>
            <a:ext cx="16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0.254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2512" y="2788920"/>
            <a:ext cx="2040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0.651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063240"/>
            <a:ext cx="105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2512" y="3063240"/>
            <a:ext cx="16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0.151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2512" y="3063240"/>
            <a:ext cx="2040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0.749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337560"/>
            <a:ext cx="105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2512" y="3337560"/>
            <a:ext cx="16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0.128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2512" y="3337560"/>
            <a:ext cx="2040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Calibri"/>
              </a:rPr>
              <a:t>0.776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749040"/>
            <a:ext cx="46908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2514E"/>
                </a:solidFill>
                <a:latin typeface="Calibri"/>
              </a:rPr>
              <a:t>Loss and val mIoU improve together the whole way — no divergence, the signature of healthy convergence rather than overfitting.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36592"/>
            <a:ext cx="11091672" cy="822960"/>
          </a:xfrm>
          <a:prstGeom prst="round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36592"/>
            <a:ext cx="1054303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8FB8E8"/>
                </a:solidFill>
                <a:latin typeface="Calibri"/>
              </a:rPr>
              <a:t>Honest caveat:  </a:t>
            </a:r>
            <a:r>
              <a:rPr sz="1300" b="0">
                <a:solidFill>
                  <a:srgbClr val="FFFFFF"/>
                </a:solidFill>
                <a:latin typeface="Calibri"/>
              </a:rPr>
              <a:t>fog_prob/β were chosen by comparing ACDC scores across the 24-config sweep — a form of hyperparameter selection on the eval set. Individual models never see ACDC during training; a fully held-out number would need a second split or the official ACDC test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Calibri"/>
              </a:rPr>
              <a:t>OPEN ITEMS · READY FOR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0B0B0B"/>
                </a:solidFill>
                <a:latin typeface="Calibri"/>
              </a:rPr>
              <a:t>What's Left, and What's Ready to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720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02736" cy="1298448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78D6"/>
                </a:solidFill>
                <a:latin typeface="Calibri"/>
              </a:rPr>
              <a:t>Multi-seed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39112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Current results are single-seed per condition — needed for statistical significance.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5071" y="1600200"/>
            <a:ext cx="3602736" cy="1298448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7951" y="1737360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78D6"/>
                </a:solidFill>
                <a:latin typeface="Calibri"/>
              </a:rPr>
              <a:t>ACDC test-server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7951" y="2039112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Only val used so far; submit the MiT-B2 NN-depth winner to the held-out test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1502" y="1600200"/>
            <a:ext cx="3602736" cy="1298448"/>
          </a:xfrm>
          <a:prstGeom prst="roundRect">
            <a:avLst/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4382" y="1737360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A78D6"/>
                </a:solidFill>
                <a:latin typeface="Calibri"/>
              </a:rPr>
              <a:t>Per-class failure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4382" y="2039112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  <a:latin typeface="Calibri"/>
              </a:rPr>
              <a:t>New winner still weak on wall/fence/truck (IoU 0.29–0.34) — worth a dedicated look.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11091672" cy="1005840"/>
          </a:xfrm>
          <a:prstGeom prst="round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10543032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6FC86F"/>
                </a:solidFill>
                <a:latin typeface="Calibri"/>
              </a:rPr>
              <a:t>Ready to demo live:  </a:t>
            </a:r>
            <a:r>
              <a:rPr sz="1300" b="0">
                <a:solidFill>
                  <a:srgbClr val="FFFFFF"/>
                </a:solidFill>
                <a:latin typeface="Calibri"/>
              </a:rPr>
              <a:t>show_fog_config.py renders any fog technique on any Cityscapes image, looked up by filename; demo_random_image.py fogs and segments any arbitrary photo (not Cityscapes/ACDC) on the spot — both usable live in the meeting if useful.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